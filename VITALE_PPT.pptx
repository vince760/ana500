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2" r:id="rId9"/>
    <p:sldId id="265"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900701-4350-46B0-B667-6B406B94FF7B}" v="3" dt="2022-03-01T23:50:13.3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6" d="100"/>
          <a:sy n="106" d="100"/>
        </p:scale>
        <p:origin x="79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nuel J Rodriguez" userId="2e21cfcd93492766" providerId="LiveId" clId="{22900701-4350-46B0-B667-6B406B94FF7B}"/>
    <pc:docChg chg="custSel addSld modSld">
      <pc:chgData name="Emmanuel J Rodriguez" userId="2e21cfcd93492766" providerId="LiveId" clId="{22900701-4350-46B0-B667-6B406B94FF7B}" dt="2022-03-01T23:50:57.963" v="172" actId="20577"/>
      <pc:docMkLst>
        <pc:docMk/>
      </pc:docMkLst>
      <pc:sldChg chg="modSp mod">
        <pc:chgData name="Emmanuel J Rodriguez" userId="2e21cfcd93492766" providerId="LiveId" clId="{22900701-4350-46B0-B667-6B406B94FF7B}" dt="2022-03-01T23:23:22.375" v="31" actId="20577"/>
        <pc:sldMkLst>
          <pc:docMk/>
          <pc:sldMk cId="3651251486" sldId="256"/>
        </pc:sldMkLst>
        <pc:spChg chg="mod">
          <ac:chgData name="Emmanuel J Rodriguez" userId="2e21cfcd93492766" providerId="LiveId" clId="{22900701-4350-46B0-B667-6B406B94FF7B}" dt="2022-03-01T23:23:22.375" v="31" actId="20577"/>
          <ac:spMkLst>
            <pc:docMk/>
            <pc:sldMk cId="3651251486" sldId="256"/>
            <ac:spMk id="2" creationId="{9FEFD3DB-B193-4E72-861B-FE835A2E1FAD}"/>
          </ac:spMkLst>
        </pc:spChg>
      </pc:sldChg>
      <pc:sldChg chg="modSp mod">
        <pc:chgData name="Emmanuel J Rodriguez" userId="2e21cfcd93492766" providerId="LiveId" clId="{22900701-4350-46B0-B667-6B406B94FF7B}" dt="2022-03-01T23:47:58.759" v="95" actId="20577"/>
        <pc:sldMkLst>
          <pc:docMk/>
          <pc:sldMk cId="1880678406" sldId="257"/>
        </pc:sldMkLst>
        <pc:spChg chg="mod">
          <ac:chgData name="Emmanuel J Rodriguez" userId="2e21cfcd93492766" providerId="LiveId" clId="{22900701-4350-46B0-B667-6B406B94FF7B}" dt="2022-03-01T23:33:50.150" v="54" actId="20577"/>
          <ac:spMkLst>
            <pc:docMk/>
            <pc:sldMk cId="1880678406" sldId="257"/>
            <ac:spMk id="2" creationId="{8B8302AB-CEDA-4E89-A1DC-6BABC9C3F7D4}"/>
          </ac:spMkLst>
        </pc:spChg>
        <pc:spChg chg="mod">
          <ac:chgData name="Emmanuel J Rodriguez" userId="2e21cfcd93492766" providerId="LiveId" clId="{22900701-4350-46B0-B667-6B406B94FF7B}" dt="2022-03-01T23:47:58.759" v="95" actId="20577"/>
          <ac:spMkLst>
            <pc:docMk/>
            <pc:sldMk cId="1880678406" sldId="257"/>
            <ac:spMk id="3" creationId="{05AD07EA-4B74-4BFA-A23D-5147B6A28FC4}"/>
          </ac:spMkLst>
        </pc:spChg>
      </pc:sldChg>
      <pc:sldChg chg="modSp new mod">
        <pc:chgData name="Emmanuel J Rodriguez" userId="2e21cfcd93492766" providerId="LiveId" clId="{22900701-4350-46B0-B667-6B406B94FF7B}" dt="2022-03-01T23:47:53.999" v="93" actId="20577"/>
        <pc:sldMkLst>
          <pc:docMk/>
          <pc:sldMk cId="3306958798" sldId="258"/>
        </pc:sldMkLst>
        <pc:spChg chg="mod">
          <ac:chgData name="Emmanuel J Rodriguez" userId="2e21cfcd93492766" providerId="LiveId" clId="{22900701-4350-46B0-B667-6B406B94FF7B}" dt="2022-03-01T23:34:18.821" v="86" actId="20577"/>
          <ac:spMkLst>
            <pc:docMk/>
            <pc:sldMk cId="3306958798" sldId="258"/>
            <ac:spMk id="2" creationId="{FF29C91F-7913-4D5C-A911-ADD4837DAA00}"/>
          </ac:spMkLst>
        </pc:spChg>
        <pc:spChg chg="mod">
          <ac:chgData name="Emmanuel J Rodriguez" userId="2e21cfcd93492766" providerId="LiveId" clId="{22900701-4350-46B0-B667-6B406B94FF7B}" dt="2022-03-01T23:47:53.999" v="93" actId="20577"/>
          <ac:spMkLst>
            <pc:docMk/>
            <pc:sldMk cId="3306958798" sldId="258"/>
            <ac:spMk id="3" creationId="{905A42CE-FCD3-41B9-A629-5F3C6031F3C0}"/>
          </ac:spMkLst>
        </pc:spChg>
      </pc:sldChg>
      <pc:sldChg chg="modSp new mod">
        <pc:chgData name="Emmanuel J Rodriguez" userId="2e21cfcd93492766" providerId="LiveId" clId="{22900701-4350-46B0-B667-6B406B94FF7B}" dt="2022-03-01T23:49:17.883" v="106" actId="20577"/>
        <pc:sldMkLst>
          <pc:docMk/>
          <pc:sldMk cId="427023157" sldId="259"/>
        </pc:sldMkLst>
        <pc:spChg chg="mod">
          <ac:chgData name="Emmanuel J Rodriguez" userId="2e21cfcd93492766" providerId="LiveId" clId="{22900701-4350-46B0-B667-6B406B94FF7B}" dt="2022-03-01T23:49:03.966" v="103" actId="20577"/>
          <ac:spMkLst>
            <pc:docMk/>
            <pc:sldMk cId="427023157" sldId="259"/>
            <ac:spMk id="2" creationId="{DB2A7252-6823-44F9-B464-D7A15D12BB65}"/>
          </ac:spMkLst>
        </pc:spChg>
        <pc:spChg chg="mod">
          <ac:chgData name="Emmanuel J Rodriguez" userId="2e21cfcd93492766" providerId="LiveId" clId="{22900701-4350-46B0-B667-6B406B94FF7B}" dt="2022-03-01T23:49:17.883" v="106" actId="20577"/>
          <ac:spMkLst>
            <pc:docMk/>
            <pc:sldMk cId="427023157" sldId="259"/>
            <ac:spMk id="3" creationId="{7FEAE391-6366-4E20-A14E-0ECFAEA8029A}"/>
          </ac:spMkLst>
        </pc:spChg>
      </pc:sldChg>
      <pc:sldChg chg="modSp add mod">
        <pc:chgData name="Emmanuel J Rodriguez" userId="2e21cfcd93492766" providerId="LiveId" clId="{22900701-4350-46B0-B667-6B406B94FF7B}" dt="2022-03-01T23:49:42.228" v="115"/>
        <pc:sldMkLst>
          <pc:docMk/>
          <pc:sldMk cId="2788217980" sldId="260"/>
        </pc:sldMkLst>
        <pc:spChg chg="mod">
          <ac:chgData name="Emmanuel J Rodriguez" userId="2e21cfcd93492766" providerId="LiveId" clId="{22900701-4350-46B0-B667-6B406B94FF7B}" dt="2022-03-01T23:49:29.569" v="114" actId="20577"/>
          <ac:spMkLst>
            <pc:docMk/>
            <pc:sldMk cId="2788217980" sldId="260"/>
            <ac:spMk id="2" creationId="{DB2A7252-6823-44F9-B464-D7A15D12BB65}"/>
          </ac:spMkLst>
        </pc:spChg>
        <pc:spChg chg="mod">
          <ac:chgData name="Emmanuel J Rodriguez" userId="2e21cfcd93492766" providerId="LiveId" clId="{22900701-4350-46B0-B667-6B406B94FF7B}" dt="2022-03-01T23:49:42.228" v="115"/>
          <ac:spMkLst>
            <pc:docMk/>
            <pc:sldMk cId="2788217980" sldId="260"/>
            <ac:spMk id="3" creationId="{7FEAE391-6366-4E20-A14E-0ECFAEA8029A}"/>
          </ac:spMkLst>
        </pc:spChg>
      </pc:sldChg>
      <pc:sldChg chg="modSp add mod">
        <pc:chgData name="Emmanuel J Rodriguez" userId="2e21cfcd93492766" providerId="LiveId" clId="{22900701-4350-46B0-B667-6B406B94FF7B}" dt="2022-03-01T23:50:09.797" v="129"/>
        <pc:sldMkLst>
          <pc:docMk/>
          <pc:sldMk cId="69798042" sldId="261"/>
        </pc:sldMkLst>
        <pc:spChg chg="mod">
          <ac:chgData name="Emmanuel J Rodriguez" userId="2e21cfcd93492766" providerId="LiveId" clId="{22900701-4350-46B0-B667-6B406B94FF7B}" dt="2022-03-01T23:49:54.235" v="128" actId="20577"/>
          <ac:spMkLst>
            <pc:docMk/>
            <pc:sldMk cId="69798042" sldId="261"/>
            <ac:spMk id="2" creationId="{DB2A7252-6823-44F9-B464-D7A15D12BB65}"/>
          </ac:spMkLst>
        </pc:spChg>
        <pc:spChg chg="mod">
          <ac:chgData name="Emmanuel J Rodriguez" userId="2e21cfcd93492766" providerId="LiveId" clId="{22900701-4350-46B0-B667-6B406B94FF7B}" dt="2022-03-01T23:50:09.797" v="129"/>
          <ac:spMkLst>
            <pc:docMk/>
            <pc:sldMk cId="69798042" sldId="261"/>
            <ac:spMk id="3" creationId="{7FEAE391-6366-4E20-A14E-0ECFAEA8029A}"/>
          </ac:spMkLst>
        </pc:spChg>
      </pc:sldChg>
      <pc:sldChg chg="modSp add mod">
        <pc:chgData name="Emmanuel J Rodriguez" userId="2e21cfcd93492766" providerId="LiveId" clId="{22900701-4350-46B0-B667-6B406B94FF7B}" dt="2022-03-01T23:50:29.416" v="157" actId="20577"/>
        <pc:sldMkLst>
          <pc:docMk/>
          <pc:sldMk cId="2309908418" sldId="262"/>
        </pc:sldMkLst>
        <pc:spChg chg="mod">
          <ac:chgData name="Emmanuel J Rodriguez" userId="2e21cfcd93492766" providerId="LiveId" clId="{22900701-4350-46B0-B667-6B406B94FF7B}" dt="2022-03-01T23:50:18.324" v="136" actId="20577"/>
          <ac:spMkLst>
            <pc:docMk/>
            <pc:sldMk cId="2309908418" sldId="262"/>
            <ac:spMk id="2" creationId="{DB2A7252-6823-44F9-B464-D7A15D12BB65}"/>
          </ac:spMkLst>
        </pc:spChg>
        <pc:spChg chg="mod">
          <ac:chgData name="Emmanuel J Rodriguez" userId="2e21cfcd93492766" providerId="LiveId" clId="{22900701-4350-46B0-B667-6B406B94FF7B}" dt="2022-03-01T23:50:29.416" v="157" actId="20577"/>
          <ac:spMkLst>
            <pc:docMk/>
            <pc:sldMk cId="2309908418" sldId="262"/>
            <ac:spMk id="3" creationId="{7FEAE391-6366-4E20-A14E-0ECFAEA8029A}"/>
          </ac:spMkLst>
        </pc:spChg>
      </pc:sldChg>
      <pc:sldChg chg="modSp new mod">
        <pc:chgData name="Emmanuel J Rodriguez" userId="2e21cfcd93492766" providerId="LiveId" clId="{22900701-4350-46B0-B667-6B406B94FF7B}" dt="2022-03-01T23:50:57.963" v="172" actId="20577"/>
        <pc:sldMkLst>
          <pc:docMk/>
          <pc:sldMk cId="4024108741" sldId="263"/>
        </pc:sldMkLst>
        <pc:spChg chg="mod">
          <ac:chgData name="Emmanuel J Rodriguez" userId="2e21cfcd93492766" providerId="LiveId" clId="{22900701-4350-46B0-B667-6B406B94FF7B}" dt="2022-03-01T23:50:35.471" v="161" actId="20577"/>
          <ac:spMkLst>
            <pc:docMk/>
            <pc:sldMk cId="4024108741" sldId="263"/>
            <ac:spMk id="2" creationId="{7998C1A2-E365-4EAD-A777-10EF9BD2588C}"/>
          </ac:spMkLst>
        </pc:spChg>
        <pc:spChg chg="mod">
          <ac:chgData name="Emmanuel J Rodriguez" userId="2e21cfcd93492766" providerId="LiveId" clId="{22900701-4350-46B0-B667-6B406B94FF7B}" dt="2022-03-01T23:50:57.963" v="172" actId="20577"/>
          <ac:spMkLst>
            <pc:docMk/>
            <pc:sldMk cId="4024108741" sldId="263"/>
            <ac:spMk id="3" creationId="{83DC0D0A-FDCC-4561-A8EB-1F836A94AAC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84A48-ED60-4C3D-8040-EA420D1376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950468-0315-4B9D-B09C-8C8C8EBD6A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7C4A60-6695-4CB3-AF2E-ACFA3C0B87F1}"/>
              </a:ext>
            </a:extLst>
          </p:cNvPr>
          <p:cNvSpPr>
            <a:spLocks noGrp="1"/>
          </p:cNvSpPr>
          <p:nvPr>
            <p:ph type="dt" sz="half" idx="10"/>
          </p:nvPr>
        </p:nvSpPr>
        <p:spPr/>
        <p:txBody>
          <a:bodyPr/>
          <a:lstStyle/>
          <a:p>
            <a:fld id="{3F52AFC1-4F45-459D-BC95-0F8F5E3A4294}" type="datetimeFigureOut">
              <a:rPr lang="en-US" smtClean="0"/>
              <a:t>10/20/2025</a:t>
            </a:fld>
            <a:endParaRPr lang="en-US"/>
          </a:p>
        </p:txBody>
      </p:sp>
      <p:sp>
        <p:nvSpPr>
          <p:cNvPr id="5" name="Footer Placeholder 4">
            <a:extLst>
              <a:ext uri="{FF2B5EF4-FFF2-40B4-BE49-F238E27FC236}">
                <a16:creationId xmlns:a16="http://schemas.microsoft.com/office/drawing/2014/main" id="{842D2078-2F8D-45FB-9C14-17036DA5D3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DD9676-FA59-4F47-9033-2CFC7976370A}"/>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2191420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04559-4EA9-4030-8CD7-225515C39D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A446E6-DF6C-44D2-BA71-5D6445655C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F5ECAD-0D49-425E-99BE-4E9A279761FE}"/>
              </a:ext>
            </a:extLst>
          </p:cNvPr>
          <p:cNvSpPr>
            <a:spLocks noGrp="1"/>
          </p:cNvSpPr>
          <p:nvPr>
            <p:ph type="dt" sz="half" idx="10"/>
          </p:nvPr>
        </p:nvSpPr>
        <p:spPr/>
        <p:txBody>
          <a:bodyPr/>
          <a:lstStyle/>
          <a:p>
            <a:fld id="{3F52AFC1-4F45-459D-BC95-0F8F5E3A4294}" type="datetimeFigureOut">
              <a:rPr lang="en-US" smtClean="0"/>
              <a:t>10/20/2025</a:t>
            </a:fld>
            <a:endParaRPr lang="en-US"/>
          </a:p>
        </p:txBody>
      </p:sp>
      <p:sp>
        <p:nvSpPr>
          <p:cNvPr id="5" name="Footer Placeholder 4">
            <a:extLst>
              <a:ext uri="{FF2B5EF4-FFF2-40B4-BE49-F238E27FC236}">
                <a16:creationId xmlns:a16="http://schemas.microsoft.com/office/drawing/2014/main" id="{01B6268D-3BF4-472B-B1D5-518489674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BF4C8E-AFA1-48CB-9BE5-583A37660428}"/>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2624279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CC60D-06AE-4839-A5F6-DB50DF8789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8C870F-1989-4744-AA64-C97EBC3080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3CF60B-312D-4E68-B904-78A68C9AF98E}"/>
              </a:ext>
            </a:extLst>
          </p:cNvPr>
          <p:cNvSpPr>
            <a:spLocks noGrp="1"/>
          </p:cNvSpPr>
          <p:nvPr>
            <p:ph type="dt" sz="half" idx="10"/>
          </p:nvPr>
        </p:nvSpPr>
        <p:spPr/>
        <p:txBody>
          <a:bodyPr/>
          <a:lstStyle/>
          <a:p>
            <a:fld id="{3F52AFC1-4F45-459D-BC95-0F8F5E3A4294}" type="datetimeFigureOut">
              <a:rPr lang="en-US" smtClean="0"/>
              <a:t>10/20/2025</a:t>
            </a:fld>
            <a:endParaRPr lang="en-US"/>
          </a:p>
        </p:txBody>
      </p:sp>
      <p:sp>
        <p:nvSpPr>
          <p:cNvPr id="5" name="Footer Placeholder 4">
            <a:extLst>
              <a:ext uri="{FF2B5EF4-FFF2-40B4-BE49-F238E27FC236}">
                <a16:creationId xmlns:a16="http://schemas.microsoft.com/office/drawing/2014/main" id="{0A05CA4F-B8D7-4A59-A5BA-74DF90CC1D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BAD61-51E4-4D1D-8E14-1EB20C0ECB7D}"/>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2333503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51454-95B8-455D-BFC1-6C6DA3603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3FBC0B-D342-4647-B5BA-5B6ADF294E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969BC10-2FBB-4372-AE80-21EC4AB47A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FE6231-D355-4CB0-AB68-1D21D4EB6ACF}"/>
              </a:ext>
            </a:extLst>
          </p:cNvPr>
          <p:cNvSpPr>
            <a:spLocks noGrp="1"/>
          </p:cNvSpPr>
          <p:nvPr>
            <p:ph type="dt" sz="half" idx="10"/>
          </p:nvPr>
        </p:nvSpPr>
        <p:spPr/>
        <p:txBody>
          <a:bodyPr/>
          <a:lstStyle/>
          <a:p>
            <a:fld id="{3F52AFC1-4F45-459D-BC95-0F8F5E3A4294}" type="datetimeFigureOut">
              <a:rPr lang="en-US" smtClean="0"/>
              <a:t>10/20/2025</a:t>
            </a:fld>
            <a:endParaRPr lang="en-US"/>
          </a:p>
        </p:txBody>
      </p:sp>
      <p:sp>
        <p:nvSpPr>
          <p:cNvPr id="6" name="Footer Placeholder 5">
            <a:extLst>
              <a:ext uri="{FF2B5EF4-FFF2-40B4-BE49-F238E27FC236}">
                <a16:creationId xmlns:a16="http://schemas.microsoft.com/office/drawing/2014/main" id="{AB01BF01-A233-43E9-8949-BAADCAF957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EA8DA2-49A7-4CD4-AD2A-B4AE89F09C29}"/>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464572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A6AAD-2645-4527-94B3-3A3BECB928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031552-937E-4EAB-883E-C29FBC415B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3455D9-4697-44D3-AB55-9CADBE716D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58DC7D-BF9A-4F54-AB58-1C49FFA17D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D3AE0C-DB47-4E16-828A-3429714FAD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3C3C45-525E-4801-90AF-776B7EFC5ADB}"/>
              </a:ext>
            </a:extLst>
          </p:cNvPr>
          <p:cNvSpPr>
            <a:spLocks noGrp="1"/>
          </p:cNvSpPr>
          <p:nvPr>
            <p:ph type="dt" sz="half" idx="10"/>
          </p:nvPr>
        </p:nvSpPr>
        <p:spPr/>
        <p:txBody>
          <a:bodyPr/>
          <a:lstStyle/>
          <a:p>
            <a:fld id="{3F52AFC1-4F45-459D-BC95-0F8F5E3A4294}" type="datetimeFigureOut">
              <a:rPr lang="en-US" smtClean="0"/>
              <a:t>10/20/2025</a:t>
            </a:fld>
            <a:endParaRPr lang="en-US"/>
          </a:p>
        </p:txBody>
      </p:sp>
      <p:sp>
        <p:nvSpPr>
          <p:cNvPr id="8" name="Footer Placeholder 7">
            <a:extLst>
              <a:ext uri="{FF2B5EF4-FFF2-40B4-BE49-F238E27FC236}">
                <a16:creationId xmlns:a16="http://schemas.microsoft.com/office/drawing/2014/main" id="{F3B6704D-F5BC-4598-B7E7-5F53967A67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D9A6A6-BB3C-4DD0-A205-F8593CED1076}"/>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3108940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609AA-EE0C-4FE6-8E30-99E91A13B5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DA744A-AA0E-40C1-82B4-1865879ADE95}"/>
              </a:ext>
            </a:extLst>
          </p:cNvPr>
          <p:cNvSpPr>
            <a:spLocks noGrp="1"/>
          </p:cNvSpPr>
          <p:nvPr>
            <p:ph type="dt" sz="half" idx="10"/>
          </p:nvPr>
        </p:nvSpPr>
        <p:spPr/>
        <p:txBody>
          <a:bodyPr/>
          <a:lstStyle/>
          <a:p>
            <a:fld id="{3F52AFC1-4F45-459D-BC95-0F8F5E3A4294}" type="datetimeFigureOut">
              <a:rPr lang="en-US" smtClean="0"/>
              <a:t>10/20/2025</a:t>
            </a:fld>
            <a:endParaRPr lang="en-US"/>
          </a:p>
        </p:txBody>
      </p:sp>
      <p:sp>
        <p:nvSpPr>
          <p:cNvPr id="4" name="Footer Placeholder 3">
            <a:extLst>
              <a:ext uri="{FF2B5EF4-FFF2-40B4-BE49-F238E27FC236}">
                <a16:creationId xmlns:a16="http://schemas.microsoft.com/office/drawing/2014/main" id="{AD1794A4-DA55-49C9-9EE1-51AFA79807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3A595F-05DA-41C2-AFB0-CC51AFDB903E}"/>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15757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5F4ACF-3F96-4D20-91DE-5A7A89B4A2B5}"/>
              </a:ext>
            </a:extLst>
          </p:cNvPr>
          <p:cNvSpPr>
            <a:spLocks noGrp="1"/>
          </p:cNvSpPr>
          <p:nvPr>
            <p:ph type="dt" sz="half" idx="10"/>
          </p:nvPr>
        </p:nvSpPr>
        <p:spPr/>
        <p:txBody>
          <a:bodyPr/>
          <a:lstStyle/>
          <a:p>
            <a:fld id="{3F52AFC1-4F45-459D-BC95-0F8F5E3A4294}" type="datetimeFigureOut">
              <a:rPr lang="en-US" smtClean="0"/>
              <a:t>10/20/2025</a:t>
            </a:fld>
            <a:endParaRPr lang="en-US"/>
          </a:p>
        </p:txBody>
      </p:sp>
      <p:sp>
        <p:nvSpPr>
          <p:cNvPr id="3" name="Footer Placeholder 2">
            <a:extLst>
              <a:ext uri="{FF2B5EF4-FFF2-40B4-BE49-F238E27FC236}">
                <a16:creationId xmlns:a16="http://schemas.microsoft.com/office/drawing/2014/main" id="{4D2B232B-2221-443B-9621-C2FFF41601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970A4F-5257-4439-983C-D802F7190B32}"/>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3092692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5D602-AEC1-494B-9EC8-423C9605B1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AC75CB-286B-4E0D-946F-B2152E792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6FE692-594E-4FE0-A040-69DCF74AA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E66829-7538-463B-99D9-8920CBDF4060}"/>
              </a:ext>
            </a:extLst>
          </p:cNvPr>
          <p:cNvSpPr>
            <a:spLocks noGrp="1"/>
          </p:cNvSpPr>
          <p:nvPr>
            <p:ph type="dt" sz="half" idx="10"/>
          </p:nvPr>
        </p:nvSpPr>
        <p:spPr/>
        <p:txBody>
          <a:bodyPr/>
          <a:lstStyle/>
          <a:p>
            <a:fld id="{3F52AFC1-4F45-459D-BC95-0F8F5E3A4294}" type="datetimeFigureOut">
              <a:rPr lang="en-US" smtClean="0"/>
              <a:t>10/20/2025</a:t>
            </a:fld>
            <a:endParaRPr lang="en-US"/>
          </a:p>
        </p:txBody>
      </p:sp>
      <p:sp>
        <p:nvSpPr>
          <p:cNvPr id="6" name="Footer Placeholder 5">
            <a:extLst>
              <a:ext uri="{FF2B5EF4-FFF2-40B4-BE49-F238E27FC236}">
                <a16:creationId xmlns:a16="http://schemas.microsoft.com/office/drawing/2014/main" id="{EAB5AFDF-77FC-4354-AF3B-008607F927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77315B-5282-41D1-99A3-2ADE83DA19EE}"/>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3381724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77A91-0A20-466E-9CA8-86B63BE8AF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8C2C4C-22CA-4398-A23B-4F068FB5A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574D67-2A27-42C6-815E-BE5AD10D3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BB23AA-5E29-4400-B52D-822F13ED6B94}"/>
              </a:ext>
            </a:extLst>
          </p:cNvPr>
          <p:cNvSpPr>
            <a:spLocks noGrp="1"/>
          </p:cNvSpPr>
          <p:nvPr>
            <p:ph type="dt" sz="half" idx="10"/>
          </p:nvPr>
        </p:nvSpPr>
        <p:spPr/>
        <p:txBody>
          <a:bodyPr/>
          <a:lstStyle/>
          <a:p>
            <a:fld id="{3F52AFC1-4F45-459D-BC95-0F8F5E3A4294}" type="datetimeFigureOut">
              <a:rPr lang="en-US" smtClean="0"/>
              <a:t>10/20/2025</a:t>
            </a:fld>
            <a:endParaRPr lang="en-US"/>
          </a:p>
        </p:txBody>
      </p:sp>
      <p:sp>
        <p:nvSpPr>
          <p:cNvPr id="6" name="Footer Placeholder 5">
            <a:extLst>
              <a:ext uri="{FF2B5EF4-FFF2-40B4-BE49-F238E27FC236}">
                <a16:creationId xmlns:a16="http://schemas.microsoft.com/office/drawing/2014/main" id="{FA368ADC-B329-411C-AA83-9EEADAE8A9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78A6D9-A5FD-46E3-8F58-CDC4CC4B895B}"/>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3768824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59857-0725-4AFD-ADA1-93DE6885A9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742F07-D500-4235-A3BD-4E9FA3C926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AB7CF7-F61A-47E7-B601-419FF069E767}"/>
              </a:ext>
            </a:extLst>
          </p:cNvPr>
          <p:cNvSpPr>
            <a:spLocks noGrp="1"/>
          </p:cNvSpPr>
          <p:nvPr>
            <p:ph type="dt" sz="half" idx="10"/>
          </p:nvPr>
        </p:nvSpPr>
        <p:spPr/>
        <p:txBody>
          <a:bodyPr/>
          <a:lstStyle/>
          <a:p>
            <a:fld id="{3F52AFC1-4F45-459D-BC95-0F8F5E3A4294}" type="datetimeFigureOut">
              <a:rPr lang="en-US" smtClean="0"/>
              <a:t>10/20/2025</a:t>
            </a:fld>
            <a:endParaRPr lang="en-US"/>
          </a:p>
        </p:txBody>
      </p:sp>
      <p:sp>
        <p:nvSpPr>
          <p:cNvPr id="5" name="Footer Placeholder 4">
            <a:extLst>
              <a:ext uri="{FF2B5EF4-FFF2-40B4-BE49-F238E27FC236}">
                <a16:creationId xmlns:a16="http://schemas.microsoft.com/office/drawing/2014/main" id="{6918C1B3-4CDE-4267-AF19-9C2FCF860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D38641-A10F-457F-B6A9-3F574B2B266E}"/>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421247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3A314E-DAF4-459C-AF7B-C7347C7639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BE33E-4004-41A3-B3E6-14272F53B3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1A99DB-D8D6-44B2-B140-B5C0DD69889A}"/>
              </a:ext>
            </a:extLst>
          </p:cNvPr>
          <p:cNvSpPr>
            <a:spLocks noGrp="1"/>
          </p:cNvSpPr>
          <p:nvPr>
            <p:ph type="dt" sz="half" idx="10"/>
          </p:nvPr>
        </p:nvSpPr>
        <p:spPr/>
        <p:txBody>
          <a:bodyPr/>
          <a:lstStyle/>
          <a:p>
            <a:fld id="{3F52AFC1-4F45-459D-BC95-0F8F5E3A4294}" type="datetimeFigureOut">
              <a:rPr lang="en-US" smtClean="0"/>
              <a:t>10/20/2025</a:t>
            </a:fld>
            <a:endParaRPr lang="en-US"/>
          </a:p>
        </p:txBody>
      </p:sp>
      <p:sp>
        <p:nvSpPr>
          <p:cNvPr id="5" name="Footer Placeholder 4">
            <a:extLst>
              <a:ext uri="{FF2B5EF4-FFF2-40B4-BE49-F238E27FC236}">
                <a16:creationId xmlns:a16="http://schemas.microsoft.com/office/drawing/2014/main" id="{131BF21E-4345-40CE-88C3-7C77ECC010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1F20F6-FD42-49EE-AE17-171924F49826}"/>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253232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B5F7E3-61B5-4449-80CF-04DA4D37AB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CFC45A-DECF-4B86-87F6-C12B501A4F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C712EE-4BB3-49D3-9FAF-733EA6255E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52AFC1-4F45-459D-BC95-0F8F5E3A4294}" type="datetimeFigureOut">
              <a:rPr lang="en-US" smtClean="0"/>
              <a:t>10/20/2025</a:t>
            </a:fld>
            <a:endParaRPr lang="en-US"/>
          </a:p>
        </p:txBody>
      </p:sp>
      <p:sp>
        <p:nvSpPr>
          <p:cNvPr id="5" name="Footer Placeholder 4">
            <a:extLst>
              <a:ext uri="{FF2B5EF4-FFF2-40B4-BE49-F238E27FC236}">
                <a16:creationId xmlns:a16="http://schemas.microsoft.com/office/drawing/2014/main" id="{83DFC8A3-CA43-47DE-88A0-18EE8FB2D2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38CC4C2-DBD2-41A0-8542-0ED48583DA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5D697-CC64-4CAF-A466-D1105DD36B62}" type="slidenum">
              <a:rPr lang="en-US" smtClean="0"/>
              <a:t>‹#›</a:t>
            </a:fld>
            <a:endParaRPr lang="en-US"/>
          </a:p>
        </p:txBody>
      </p:sp>
    </p:spTree>
    <p:extLst>
      <p:ext uri="{BB962C8B-B14F-4D97-AF65-F5344CB8AC3E}">
        <p14:creationId xmlns:p14="http://schemas.microsoft.com/office/powerpoint/2010/main" val="496281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vince760/ANA50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kaggle.com/competitions/airline-customer-satisfaction/dat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FD3DB-B193-4E72-861B-FE835A2E1FAD}"/>
              </a:ext>
            </a:extLst>
          </p:cNvPr>
          <p:cNvSpPr>
            <a:spLocks noGrp="1"/>
          </p:cNvSpPr>
          <p:nvPr>
            <p:ph type="ctrTitle"/>
          </p:nvPr>
        </p:nvSpPr>
        <p:spPr/>
        <p:txBody>
          <a:bodyPr>
            <a:normAutofit fontScale="90000"/>
          </a:bodyPr>
          <a:lstStyle/>
          <a:p>
            <a:r>
              <a:rPr lang="en-US" sz="5300" dirty="0"/>
              <a:t>Exploring Airline Passenger Satisfaction and On Time Performance</a:t>
            </a:r>
            <a:br>
              <a:rPr lang="en-US" dirty="0"/>
            </a:br>
            <a:r>
              <a:rPr lang="en-US" sz="4800" dirty="0"/>
              <a:t>Micro Project # 1</a:t>
            </a:r>
            <a:br>
              <a:rPr lang="en-US" sz="4800" dirty="0"/>
            </a:br>
            <a:r>
              <a:rPr lang="en-US" sz="4800" dirty="0" err="1">
                <a:hlinkClick r:id="rId2"/>
              </a:rPr>
              <a:t>Github</a:t>
            </a:r>
            <a:r>
              <a:rPr lang="en-US" sz="4800" dirty="0">
                <a:hlinkClick r:id="rId2"/>
              </a:rPr>
              <a:t> Project</a:t>
            </a:r>
            <a:endParaRPr lang="en-US" dirty="0"/>
          </a:p>
        </p:txBody>
      </p:sp>
      <p:sp>
        <p:nvSpPr>
          <p:cNvPr id="3" name="Subtitle 2">
            <a:extLst>
              <a:ext uri="{FF2B5EF4-FFF2-40B4-BE49-F238E27FC236}">
                <a16:creationId xmlns:a16="http://schemas.microsoft.com/office/drawing/2014/main" id="{76B5E315-C208-479B-A6B8-0DCBEF2B5FB3}"/>
              </a:ext>
            </a:extLst>
          </p:cNvPr>
          <p:cNvSpPr>
            <a:spLocks noGrp="1"/>
          </p:cNvSpPr>
          <p:nvPr>
            <p:ph type="subTitle" idx="1"/>
          </p:nvPr>
        </p:nvSpPr>
        <p:spPr/>
        <p:txBody>
          <a:bodyPr/>
          <a:lstStyle/>
          <a:p>
            <a:r>
              <a:rPr lang="en-US" dirty="0"/>
              <a:t>Vincent Vitale</a:t>
            </a:r>
          </a:p>
          <a:p>
            <a:r>
              <a:rPr lang="en-US" dirty="0"/>
              <a:t>October 5, 2025</a:t>
            </a:r>
          </a:p>
          <a:p>
            <a:endParaRPr lang="en-US" dirty="0"/>
          </a:p>
        </p:txBody>
      </p:sp>
    </p:spTree>
    <p:extLst>
      <p:ext uri="{BB962C8B-B14F-4D97-AF65-F5344CB8AC3E}">
        <p14:creationId xmlns:p14="http://schemas.microsoft.com/office/powerpoint/2010/main" val="3651251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302AB-CEDA-4E89-A1DC-6BABC9C3F7D4}"/>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05AD07EA-4B74-4BFA-A23D-5147B6A28FC4}"/>
              </a:ext>
            </a:extLst>
          </p:cNvPr>
          <p:cNvSpPr>
            <a:spLocks noGrp="1"/>
          </p:cNvSpPr>
          <p:nvPr>
            <p:ph idx="1"/>
          </p:nvPr>
        </p:nvSpPr>
        <p:spPr/>
        <p:txBody>
          <a:bodyPr/>
          <a:lstStyle/>
          <a:p>
            <a:r>
              <a:rPr lang="en-US" sz="1800" dirty="0">
                <a:solidFill>
                  <a:srgbClr val="000000"/>
                </a:solidFill>
                <a:latin typeface="Times New Roman" panose="02020603050405020304" pitchFamily="18" charset="0"/>
              </a:rPr>
              <a:t>Airline companies aim to enhance customer satisfaction and reduce delays. Using passenger and operational flight data, this project will identify which flight-related and service-related factors most influence overall passenger satisfaction and on-time performance.</a:t>
            </a:r>
          </a:p>
          <a:p>
            <a:r>
              <a:rPr lang="en-US" sz="1800" dirty="0">
                <a:solidFill>
                  <a:srgbClr val="000000"/>
                </a:solidFill>
                <a:latin typeface="Times New Roman" panose="02020603050405020304" pitchFamily="18" charset="0"/>
              </a:rPr>
              <a:t>Using passenger + operational fields, identify which flights or service factors most influence:</a:t>
            </a:r>
          </a:p>
          <a:p>
            <a:pPr lvl="1"/>
            <a:r>
              <a:rPr lang="en-US" sz="1400" dirty="0">
                <a:solidFill>
                  <a:srgbClr val="000000"/>
                </a:solidFill>
                <a:latin typeface="Times New Roman" panose="02020603050405020304" pitchFamily="18" charset="0"/>
              </a:rPr>
              <a:t>Overall passenger satisfaction</a:t>
            </a:r>
          </a:p>
          <a:p>
            <a:pPr lvl="1"/>
            <a:r>
              <a:rPr lang="en-US" sz="1400" dirty="0">
                <a:solidFill>
                  <a:srgbClr val="000000"/>
                </a:solidFill>
                <a:latin typeface="Times New Roman" panose="02020603050405020304" pitchFamily="18" charset="0"/>
              </a:rPr>
              <a:t>On-time performance</a:t>
            </a:r>
          </a:p>
        </p:txBody>
      </p:sp>
    </p:spTree>
    <p:extLst>
      <p:ext uri="{BB962C8B-B14F-4D97-AF65-F5344CB8AC3E}">
        <p14:creationId xmlns:p14="http://schemas.microsoft.com/office/powerpoint/2010/main" val="1880678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9C91F-7913-4D5C-A911-ADD4837DAA00}"/>
              </a:ext>
            </a:extLst>
          </p:cNvPr>
          <p:cNvSpPr>
            <a:spLocks noGrp="1"/>
          </p:cNvSpPr>
          <p:nvPr>
            <p:ph type="title"/>
          </p:nvPr>
        </p:nvSpPr>
        <p:spPr/>
        <p:txBody>
          <a:bodyPr/>
          <a:lstStyle/>
          <a:p>
            <a:r>
              <a:rPr lang="en-US" dirty="0"/>
              <a:t>Hypothesis Formulation</a:t>
            </a:r>
          </a:p>
        </p:txBody>
      </p:sp>
      <p:sp>
        <p:nvSpPr>
          <p:cNvPr id="3" name="Content Placeholder 2">
            <a:extLst>
              <a:ext uri="{FF2B5EF4-FFF2-40B4-BE49-F238E27FC236}">
                <a16:creationId xmlns:a16="http://schemas.microsoft.com/office/drawing/2014/main" id="{905A42CE-FCD3-41B9-A629-5F3C6031F3C0}"/>
              </a:ext>
            </a:extLst>
          </p:cNvPr>
          <p:cNvSpPr>
            <a:spLocks noGrp="1"/>
          </p:cNvSpPr>
          <p:nvPr>
            <p:ph idx="1"/>
          </p:nvPr>
        </p:nvSpPr>
        <p:spPr/>
        <p:txBody>
          <a:bodyPr/>
          <a:lstStyle/>
          <a:p>
            <a:r>
              <a:rPr lang="en-US" sz="1800" dirty="0">
                <a:solidFill>
                  <a:srgbClr val="000000"/>
                </a:solidFill>
                <a:latin typeface="Times New Roman" panose="02020603050405020304" pitchFamily="18" charset="0"/>
                <a:ea typeface="Times New Roman" panose="02020603050405020304" pitchFamily="18" charset="0"/>
              </a:rPr>
              <a:t>Airline service and flight characteristics may shape how customers rate their trips, and operational factors especially route length, may explain differences in on time performance.</a:t>
            </a:r>
          </a:p>
          <a:p>
            <a:r>
              <a:rPr lang="en-US" sz="1800" dirty="0">
                <a:solidFill>
                  <a:srgbClr val="000000"/>
                </a:solidFill>
                <a:latin typeface="Times New Roman" panose="02020603050405020304" pitchFamily="18" charset="0"/>
                <a:ea typeface="Times New Roman" panose="02020603050405020304" pitchFamily="18" charset="0"/>
              </a:rPr>
              <a:t>Outcomes analyzed: satisfaction (0/1) and departure delays (minutes)</a:t>
            </a:r>
          </a:p>
          <a:p>
            <a:r>
              <a:rPr lang="en-US" sz="1800" dirty="0">
                <a:solidFill>
                  <a:srgbClr val="000000"/>
                </a:solidFill>
                <a:latin typeface="Times New Roman" panose="02020603050405020304" pitchFamily="18" charset="0"/>
                <a:ea typeface="Times New Roman" panose="02020603050405020304" pitchFamily="18" charset="0"/>
              </a:rPr>
              <a:t>Primary Hypothesis(</a:t>
            </a:r>
            <a:r>
              <a:rPr lang="en-US" sz="1800" dirty="0"/>
              <a:t>H₁</a:t>
            </a:r>
            <a:r>
              <a:rPr lang="en-US" sz="1800" dirty="0">
                <a:solidFill>
                  <a:srgbClr val="000000"/>
                </a:solidFill>
                <a:latin typeface="Times New Roman" panose="02020603050405020304" pitchFamily="18" charset="0"/>
                <a:ea typeface="Times New Roman" panose="02020603050405020304" pitchFamily="18" charset="0"/>
              </a:rPr>
              <a:t>):</a:t>
            </a:r>
          </a:p>
          <a:p>
            <a:pPr lvl="1"/>
            <a:r>
              <a:rPr lang="en-US" sz="2000" dirty="0"/>
              <a:t>Mean satisfaction differs by Class, Type of Travel, and Customer Type (H₀: no differences)</a:t>
            </a:r>
          </a:p>
          <a:p>
            <a:r>
              <a:rPr lang="en-US" sz="1800" dirty="0">
                <a:latin typeface="Times New Roman" panose="02020603050405020304" pitchFamily="18" charset="0"/>
                <a:cs typeface="Times New Roman" panose="02020603050405020304" pitchFamily="18" charset="0"/>
              </a:rPr>
              <a:t>Secondary Hypothesis(H₁)</a:t>
            </a:r>
          </a:p>
          <a:p>
            <a:pPr lvl="1"/>
            <a:r>
              <a:rPr lang="en-US" sz="2000" dirty="0"/>
              <a:t>Mean departure delay differs across flight-distance groups (H₀: no differences)</a:t>
            </a:r>
          </a:p>
          <a:p>
            <a:pPr lvl="1"/>
            <a:endParaRPr lang="en-US" sz="20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Expectation:</a:t>
            </a:r>
          </a:p>
          <a:p>
            <a:pPr lvl="1"/>
            <a:r>
              <a:rPr lang="en-US" sz="2000" dirty="0">
                <a:latin typeface="Times New Roman" panose="02020603050405020304" pitchFamily="18" charset="0"/>
                <a:cs typeface="Times New Roman" panose="02020603050405020304" pitchFamily="18" charset="0"/>
              </a:rPr>
              <a:t>Business &amp; Loyal = higher satisfaction; mid range distances = higher average delays. </a:t>
            </a:r>
          </a:p>
        </p:txBody>
      </p:sp>
    </p:spTree>
    <p:extLst>
      <p:ext uri="{BB962C8B-B14F-4D97-AF65-F5344CB8AC3E}">
        <p14:creationId xmlns:p14="http://schemas.microsoft.com/office/powerpoint/2010/main" val="3306958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7252-6823-44F9-B464-D7A15D12BB65}"/>
              </a:ext>
            </a:extLst>
          </p:cNvPr>
          <p:cNvSpPr>
            <a:spLocks noGrp="1"/>
          </p:cNvSpPr>
          <p:nvPr>
            <p:ph type="title"/>
          </p:nvPr>
        </p:nvSpPr>
        <p:spPr/>
        <p:txBody>
          <a:bodyPr/>
          <a:lstStyle/>
          <a:p>
            <a:r>
              <a:rPr lang="en-US" dirty="0"/>
              <a:t>Acquire</a:t>
            </a:r>
          </a:p>
        </p:txBody>
      </p:sp>
      <p:sp>
        <p:nvSpPr>
          <p:cNvPr id="3" name="Content Placeholder 2">
            <a:extLst>
              <a:ext uri="{FF2B5EF4-FFF2-40B4-BE49-F238E27FC236}">
                <a16:creationId xmlns:a16="http://schemas.microsoft.com/office/drawing/2014/main" id="{7FEAE391-6366-4E20-A14E-0ECFAEA8029A}"/>
              </a:ext>
            </a:extLst>
          </p:cNvPr>
          <p:cNvSpPr>
            <a:spLocks noGrp="1"/>
          </p:cNvSpPr>
          <p:nvPr>
            <p:ph idx="1"/>
          </p:nvPr>
        </p:nvSpPr>
        <p:spPr/>
        <p:txBody>
          <a:bodyPr>
            <a:normAutofit fontScale="92500" lnSpcReduction="20000"/>
          </a:bodyPr>
          <a:lstStyle/>
          <a:p>
            <a:pPr marL="0" indent="0">
              <a:buNone/>
            </a:pPr>
            <a:r>
              <a:rPr lang="en-US" sz="1800" dirty="0">
                <a:solidFill>
                  <a:srgbClr val="000000"/>
                </a:solidFill>
                <a:latin typeface="Times New Roman" panose="02020603050405020304" pitchFamily="18" charset="0"/>
                <a:ea typeface="Times New Roman" panose="02020603050405020304" pitchFamily="18" charset="0"/>
              </a:rPr>
              <a:t>Analyze a public Airline Passenger Satisfaction dataset combining passenger demographics, service ratings, and delay minutes, sufficient to study satisfaction and on time performance in one table. </a:t>
            </a:r>
            <a:endParaRPr lang="en-US" sz="1800" dirty="0">
              <a:solidFill>
                <a:srgbClr val="000000"/>
              </a:solidFill>
              <a:effectLst/>
              <a:latin typeface="Times New Roman" panose="02020603050405020304" pitchFamily="18" charset="0"/>
              <a:ea typeface="Times New Roman" panose="02020603050405020304" pitchFamily="18" charset="0"/>
            </a:endParaRPr>
          </a:p>
          <a:p>
            <a:r>
              <a:rPr lang="en-US" sz="1800" dirty="0">
                <a:solidFill>
                  <a:srgbClr val="000000"/>
                </a:solidFill>
                <a:effectLst/>
                <a:latin typeface="Times New Roman" panose="02020603050405020304" pitchFamily="18" charset="0"/>
                <a:ea typeface="Times New Roman" panose="02020603050405020304" pitchFamily="18" charset="0"/>
              </a:rPr>
              <a:t>Dataset:</a:t>
            </a:r>
          </a:p>
          <a:p>
            <a:pPr lvl="1"/>
            <a:r>
              <a:rPr lang="en-US" sz="1400" dirty="0">
                <a:solidFill>
                  <a:srgbClr val="000000"/>
                </a:solidFill>
                <a:latin typeface="Times New Roman" panose="02020603050405020304" pitchFamily="18" charset="0"/>
                <a:ea typeface="Times New Roman" panose="02020603050405020304" pitchFamily="18" charset="0"/>
              </a:rPr>
              <a:t>Airline Passenger Satisfaction Dataset</a:t>
            </a:r>
          </a:p>
          <a:p>
            <a:r>
              <a:rPr lang="en-US" sz="1800" dirty="0">
                <a:solidFill>
                  <a:srgbClr val="000000"/>
                </a:solidFill>
                <a:effectLst/>
                <a:latin typeface="Times New Roman" panose="02020603050405020304" pitchFamily="18" charset="0"/>
                <a:ea typeface="Times New Roman" panose="02020603050405020304" pitchFamily="18" charset="0"/>
              </a:rPr>
              <a:t>Source:</a:t>
            </a:r>
          </a:p>
          <a:p>
            <a:pPr lvl="1"/>
            <a:r>
              <a:rPr lang="en-US" sz="1400" dirty="0">
                <a:solidFill>
                  <a:srgbClr val="000000"/>
                </a:solidFill>
                <a:latin typeface="Times New Roman" panose="02020603050405020304" pitchFamily="18" charset="0"/>
                <a:ea typeface="Times New Roman" panose="02020603050405020304" pitchFamily="18" charset="0"/>
              </a:rPr>
              <a:t>Kaggle – </a:t>
            </a:r>
            <a:r>
              <a:rPr lang="en-US" sz="1400" dirty="0">
                <a:solidFill>
                  <a:srgbClr val="000000"/>
                </a:solidFill>
                <a:latin typeface="Times New Roman" panose="02020603050405020304" pitchFamily="18" charset="0"/>
                <a:ea typeface="Times New Roman" panose="02020603050405020304" pitchFamily="18" charset="0"/>
                <a:hlinkClick r:id="rId2"/>
              </a:rPr>
              <a:t>Airline Passenger Satisfaction</a:t>
            </a:r>
            <a:endParaRPr lang="en-US" sz="1400" dirty="0">
              <a:solidFill>
                <a:srgbClr val="000000"/>
              </a:solidFill>
              <a:latin typeface="Times New Roman" panose="02020603050405020304" pitchFamily="18" charset="0"/>
              <a:ea typeface="Times New Roman" panose="02020603050405020304" pitchFamily="18" charset="0"/>
            </a:endParaRPr>
          </a:p>
          <a:p>
            <a:r>
              <a:rPr lang="en-US" sz="1800" dirty="0">
                <a:solidFill>
                  <a:srgbClr val="000000"/>
                </a:solidFill>
                <a:effectLst/>
                <a:latin typeface="Times New Roman" panose="02020603050405020304" pitchFamily="18" charset="0"/>
                <a:ea typeface="Times New Roman" panose="02020603050405020304" pitchFamily="18" charset="0"/>
              </a:rPr>
              <a:t>Size:</a:t>
            </a:r>
          </a:p>
          <a:p>
            <a:pPr lvl="1"/>
            <a:r>
              <a:rPr lang="en-US" sz="1400" dirty="0">
                <a:solidFill>
                  <a:srgbClr val="000000"/>
                </a:solidFill>
                <a:latin typeface="Times New Roman" panose="02020603050405020304" pitchFamily="18" charset="0"/>
                <a:ea typeface="Times New Roman" panose="02020603050405020304" pitchFamily="18" charset="0"/>
              </a:rPr>
              <a:t>129,880 Rows, 25 columns.</a:t>
            </a:r>
          </a:p>
          <a:p>
            <a:r>
              <a:rPr lang="en-US" sz="1800" dirty="0">
                <a:solidFill>
                  <a:srgbClr val="000000"/>
                </a:solidFill>
                <a:effectLst/>
                <a:latin typeface="Times New Roman" panose="02020603050405020304" pitchFamily="18" charset="0"/>
                <a:ea typeface="Times New Roman" panose="02020603050405020304" pitchFamily="18" charset="0"/>
              </a:rPr>
              <a:t>Key Variables:</a:t>
            </a:r>
          </a:p>
          <a:p>
            <a:pPr lvl="1"/>
            <a:r>
              <a:rPr lang="en-US" sz="1400" dirty="0">
                <a:solidFill>
                  <a:srgbClr val="000000"/>
                </a:solidFill>
                <a:latin typeface="Times New Roman" panose="02020603050405020304" pitchFamily="18" charset="0"/>
                <a:ea typeface="Times New Roman" panose="02020603050405020304" pitchFamily="18" charset="0"/>
              </a:rPr>
              <a:t>Passenger Demographics (Age, Gender)</a:t>
            </a:r>
          </a:p>
          <a:p>
            <a:pPr lvl="1"/>
            <a:r>
              <a:rPr lang="en-US" sz="1400" dirty="0">
                <a:solidFill>
                  <a:srgbClr val="000000"/>
                </a:solidFill>
                <a:effectLst/>
                <a:latin typeface="Times New Roman" panose="02020603050405020304" pitchFamily="18" charset="0"/>
                <a:ea typeface="Times New Roman" panose="02020603050405020304" pitchFamily="18" charset="0"/>
              </a:rPr>
              <a:t>Travel Details (Flight Dis</a:t>
            </a:r>
            <a:r>
              <a:rPr lang="en-US" sz="1400" dirty="0">
                <a:solidFill>
                  <a:srgbClr val="000000"/>
                </a:solidFill>
                <a:latin typeface="Times New Roman" panose="02020603050405020304" pitchFamily="18" charset="0"/>
                <a:ea typeface="Times New Roman" panose="02020603050405020304" pitchFamily="18" charset="0"/>
              </a:rPr>
              <a:t>tance, Class, Type of Travel)</a:t>
            </a:r>
          </a:p>
          <a:p>
            <a:pPr lvl="1"/>
            <a:r>
              <a:rPr lang="en-US" sz="1400" dirty="0">
                <a:solidFill>
                  <a:srgbClr val="000000"/>
                </a:solidFill>
                <a:effectLst/>
                <a:latin typeface="Times New Roman" panose="02020603050405020304" pitchFamily="18" charset="0"/>
                <a:ea typeface="Times New Roman" panose="02020603050405020304" pitchFamily="18" charset="0"/>
              </a:rPr>
              <a:t>Service Ratings (Wi-fi</a:t>
            </a:r>
            <a:r>
              <a:rPr lang="en-US" sz="1400" dirty="0">
                <a:solidFill>
                  <a:srgbClr val="000000"/>
                </a:solidFill>
                <a:latin typeface="Times New Roman" panose="02020603050405020304" pitchFamily="18" charset="0"/>
                <a:ea typeface="Times New Roman" panose="02020603050405020304" pitchFamily="18" charset="0"/>
              </a:rPr>
              <a:t>, On Board Services, In Travel Entertainment)</a:t>
            </a:r>
          </a:p>
          <a:p>
            <a:pPr lvl="1"/>
            <a:r>
              <a:rPr lang="en-US" sz="1400" dirty="0">
                <a:solidFill>
                  <a:srgbClr val="000000"/>
                </a:solidFill>
                <a:effectLst/>
                <a:latin typeface="Times New Roman" panose="02020603050405020304" pitchFamily="18" charset="0"/>
                <a:ea typeface="Times New Roman" panose="02020603050405020304" pitchFamily="18" charset="0"/>
              </a:rPr>
              <a:t>Operational Data (Departure and Arrival Delays)</a:t>
            </a:r>
          </a:p>
          <a:p>
            <a:pPr lvl="1"/>
            <a:r>
              <a:rPr lang="en-US" sz="1400" dirty="0">
                <a:solidFill>
                  <a:srgbClr val="000000"/>
                </a:solidFill>
                <a:latin typeface="Times New Roman" panose="02020603050405020304" pitchFamily="18" charset="0"/>
                <a:ea typeface="Times New Roman" panose="02020603050405020304" pitchFamily="18" charset="0"/>
              </a:rPr>
              <a:t>Target Variable (Satisfaction)</a:t>
            </a:r>
          </a:p>
          <a:p>
            <a:r>
              <a:rPr lang="en-US" sz="1800" dirty="0">
                <a:solidFill>
                  <a:srgbClr val="000000"/>
                </a:solidFill>
                <a:effectLst/>
                <a:latin typeface="Times New Roman" panose="02020603050405020304" pitchFamily="18" charset="0"/>
                <a:ea typeface="Times New Roman" panose="02020603050405020304" pitchFamily="18" charset="0"/>
              </a:rPr>
              <a:t>Outcome Variables:</a:t>
            </a:r>
          </a:p>
          <a:p>
            <a:pPr lvl="1"/>
            <a:r>
              <a:rPr lang="en-US" sz="1400" dirty="0">
                <a:solidFill>
                  <a:srgbClr val="000000"/>
                </a:solidFill>
                <a:latin typeface="Times New Roman" panose="02020603050405020304" pitchFamily="18" charset="0"/>
                <a:ea typeface="Times New Roman" panose="02020603050405020304" pitchFamily="18" charset="0"/>
              </a:rPr>
              <a:t>Satisfaction (0/1)</a:t>
            </a:r>
          </a:p>
          <a:p>
            <a:pPr lvl="1"/>
            <a:r>
              <a:rPr lang="en-US" sz="1400" dirty="0">
                <a:solidFill>
                  <a:srgbClr val="000000"/>
                </a:solidFill>
                <a:effectLst/>
                <a:latin typeface="Times New Roman" panose="02020603050405020304" pitchFamily="18" charset="0"/>
                <a:ea typeface="Times New Roman" panose="02020603050405020304" pitchFamily="18" charset="0"/>
              </a:rPr>
              <a:t>Departure delay (minutes)</a:t>
            </a:r>
          </a:p>
          <a:p>
            <a:endParaRPr lang="en-US" dirty="0"/>
          </a:p>
        </p:txBody>
      </p:sp>
    </p:spTree>
    <p:extLst>
      <p:ext uri="{BB962C8B-B14F-4D97-AF65-F5344CB8AC3E}">
        <p14:creationId xmlns:p14="http://schemas.microsoft.com/office/powerpoint/2010/main" val="427023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7252-6823-44F9-B464-D7A15D12BB65}"/>
              </a:ext>
            </a:extLst>
          </p:cNvPr>
          <p:cNvSpPr>
            <a:spLocks noGrp="1"/>
          </p:cNvSpPr>
          <p:nvPr>
            <p:ph type="title"/>
          </p:nvPr>
        </p:nvSpPr>
        <p:spPr/>
        <p:txBody>
          <a:bodyPr/>
          <a:lstStyle/>
          <a:p>
            <a:r>
              <a:rPr lang="en-US" dirty="0"/>
              <a:t>Prepare</a:t>
            </a:r>
          </a:p>
        </p:txBody>
      </p:sp>
      <p:sp>
        <p:nvSpPr>
          <p:cNvPr id="3" name="Content Placeholder 2">
            <a:extLst>
              <a:ext uri="{FF2B5EF4-FFF2-40B4-BE49-F238E27FC236}">
                <a16:creationId xmlns:a16="http://schemas.microsoft.com/office/drawing/2014/main" id="{7FEAE391-6366-4E20-A14E-0ECFAEA8029A}"/>
              </a:ext>
            </a:extLst>
          </p:cNvPr>
          <p:cNvSpPr>
            <a:spLocks noGrp="1"/>
          </p:cNvSpPr>
          <p:nvPr>
            <p:ph idx="1"/>
          </p:nvPr>
        </p:nvSpPr>
        <p:spPr/>
        <p:txBody>
          <a:bodyPr/>
          <a:lstStyle/>
          <a:p>
            <a:pPr marL="0" indent="0">
              <a:buNone/>
            </a:pPr>
            <a:r>
              <a:rPr lang="en-US" sz="1800" dirty="0">
                <a:solidFill>
                  <a:srgbClr val="000000"/>
                </a:solidFill>
                <a:effectLst/>
                <a:latin typeface="Times New Roman" panose="02020603050405020304" pitchFamily="18" charset="0"/>
                <a:ea typeface="Times New Roman" panose="02020603050405020304" pitchFamily="18" charset="0"/>
              </a:rPr>
              <a:t>Cleaned and standardized the table so service factors and delays are directly comparable and ready for simple group testing. </a:t>
            </a:r>
          </a:p>
          <a:p>
            <a:r>
              <a:rPr lang="en-US" sz="1800" dirty="0">
                <a:solidFill>
                  <a:srgbClr val="000000"/>
                </a:solidFill>
                <a:effectLst/>
                <a:latin typeface="Times New Roman" panose="02020603050405020304" pitchFamily="18" charset="0"/>
                <a:ea typeface="Times New Roman" panose="02020603050405020304" pitchFamily="18" charset="0"/>
              </a:rPr>
              <a:t>Encode categorical: Gender (Male=1/Females=0), Customer Type (Loyal=1/Disloyal=0), </a:t>
            </a:r>
            <a:r>
              <a:rPr lang="en-US" sz="1800" dirty="0">
                <a:latin typeface="Times New Roman" panose="02020603050405020304" pitchFamily="18" charset="0"/>
                <a:cs typeface="Times New Roman" panose="02020603050405020304" pitchFamily="18" charset="0"/>
              </a:rPr>
              <a:t>Type of Travel (Business=1/Personal=0), Class (Business=2/</a:t>
            </a:r>
            <a:r>
              <a:rPr lang="en-US" sz="1800" dirty="0" err="1">
                <a:latin typeface="Times New Roman" panose="02020603050405020304" pitchFamily="18" charset="0"/>
                <a:cs typeface="Times New Roman" panose="02020603050405020304" pitchFamily="18" charset="0"/>
              </a:rPr>
              <a:t>EcoPlus</a:t>
            </a:r>
            <a:r>
              <a:rPr lang="en-US" sz="1800" dirty="0">
                <a:latin typeface="Times New Roman" panose="02020603050405020304" pitchFamily="18" charset="0"/>
                <a:cs typeface="Times New Roman" panose="02020603050405020304" pitchFamily="18" charset="0"/>
              </a:rPr>
              <a:t>=1/Eco=0), Satisfaction (Satisfied=1/Neutral-or-Dissatisfied=0).</a:t>
            </a:r>
          </a:p>
          <a:p>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Handled missing data: 393 null values in Arrival Delay in Minutes, filled in with 0.</a:t>
            </a:r>
          </a:p>
          <a:p>
            <a:r>
              <a:rPr lang="en-US" sz="1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Outliers (Flight Distance): Detected with IQR rule and capped; created </a:t>
            </a:r>
            <a:r>
              <a:rPr lang="en-US" sz="18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Flight_distance_Adjusted</a:t>
            </a:r>
            <a:r>
              <a:rPr lang="en-US" sz="1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for analysis. </a:t>
            </a:r>
          </a:p>
          <a:p>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Sanity Check: Confirmed Shapes/Types and inspected distribution after transformations.</a:t>
            </a:r>
          </a:p>
          <a:p>
            <a:endParaRPr lang="en-US" dirty="0"/>
          </a:p>
        </p:txBody>
      </p:sp>
    </p:spTree>
    <p:extLst>
      <p:ext uri="{BB962C8B-B14F-4D97-AF65-F5344CB8AC3E}">
        <p14:creationId xmlns:p14="http://schemas.microsoft.com/office/powerpoint/2010/main" val="2788217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7252-6823-44F9-B464-D7A15D12BB65}"/>
              </a:ext>
            </a:extLst>
          </p:cNvPr>
          <p:cNvSpPr>
            <a:spLocks noGrp="1"/>
          </p:cNvSpPr>
          <p:nvPr>
            <p:ph type="title"/>
          </p:nvPr>
        </p:nvSpPr>
        <p:spPr/>
        <p:txBody>
          <a:bodyPr/>
          <a:lstStyle/>
          <a:p>
            <a:r>
              <a:rPr lang="en-US" dirty="0"/>
              <a:t>Analyze data</a:t>
            </a:r>
          </a:p>
        </p:txBody>
      </p:sp>
      <p:sp>
        <p:nvSpPr>
          <p:cNvPr id="3" name="Content Placeholder 2">
            <a:extLst>
              <a:ext uri="{FF2B5EF4-FFF2-40B4-BE49-F238E27FC236}">
                <a16:creationId xmlns:a16="http://schemas.microsoft.com/office/drawing/2014/main" id="{7FEAE391-6366-4E20-A14E-0ECFAEA8029A}"/>
              </a:ext>
            </a:extLst>
          </p:cNvPr>
          <p:cNvSpPr>
            <a:spLocks noGrp="1"/>
          </p:cNvSpPr>
          <p:nvPr>
            <p:ph idx="1"/>
          </p:nvPr>
        </p:nvSpPr>
        <p:spPr>
          <a:xfrm>
            <a:off x="774826" y="1253331"/>
            <a:ext cx="10515600" cy="4351338"/>
          </a:xfrm>
        </p:spPr>
        <p:txBody>
          <a:bodyPr>
            <a:normAutofit/>
          </a:bodyPr>
          <a:lstStyle/>
          <a:p>
            <a:r>
              <a:rPr lang="en-US" sz="2400" dirty="0"/>
              <a:t>Summarized patterns with simple group comparisons and distance binning to link service factors to satisfaction and route length to delays. </a:t>
            </a:r>
          </a:p>
        </p:txBody>
      </p:sp>
      <p:pic>
        <p:nvPicPr>
          <p:cNvPr id="5" name="Picture 4">
            <a:extLst>
              <a:ext uri="{FF2B5EF4-FFF2-40B4-BE49-F238E27FC236}">
                <a16:creationId xmlns:a16="http://schemas.microsoft.com/office/drawing/2014/main" id="{63742DDA-6FFB-2F1B-57E2-E469FA6E957A}"/>
              </a:ext>
            </a:extLst>
          </p:cNvPr>
          <p:cNvPicPr>
            <a:picLocks noChangeAspect="1"/>
          </p:cNvPicPr>
          <p:nvPr/>
        </p:nvPicPr>
        <p:blipFill>
          <a:blip r:embed="rId2"/>
          <a:stretch>
            <a:fillRect/>
          </a:stretch>
        </p:blipFill>
        <p:spPr>
          <a:xfrm>
            <a:off x="761264" y="2071951"/>
            <a:ext cx="4072586" cy="2197108"/>
          </a:xfrm>
          <a:prstGeom prst="rect">
            <a:avLst/>
          </a:prstGeom>
        </p:spPr>
      </p:pic>
      <p:pic>
        <p:nvPicPr>
          <p:cNvPr id="7" name="Picture 6">
            <a:extLst>
              <a:ext uri="{FF2B5EF4-FFF2-40B4-BE49-F238E27FC236}">
                <a16:creationId xmlns:a16="http://schemas.microsoft.com/office/drawing/2014/main" id="{0C9D6E0A-D8B5-6322-07AD-5DC383E4F728}"/>
              </a:ext>
            </a:extLst>
          </p:cNvPr>
          <p:cNvPicPr>
            <a:picLocks noChangeAspect="1"/>
          </p:cNvPicPr>
          <p:nvPr/>
        </p:nvPicPr>
        <p:blipFill>
          <a:blip r:embed="rId3"/>
          <a:stretch>
            <a:fillRect/>
          </a:stretch>
        </p:blipFill>
        <p:spPr>
          <a:xfrm>
            <a:off x="5250660" y="2071951"/>
            <a:ext cx="2819634" cy="2389840"/>
          </a:xfrm>
          <a:prstGeom prst="rect">
            <a:avLst/>
          </a:prstGeom>
        </p:spPr>
      </p:pic>
      <p:pic>
        <p:nvPicPr>
          <p:cNvPr id="9" name="Picture 8">
            <a:extLst>
              <a:ext uri="{FF2B5EF4-FFF2-40B4-BE49-F238E27FC236}">
                <a16:creationId xmlns:a16="http://schemas.microsoft.com/office/drawing/2014/main" id="{3DEBB757-06A5-D218-4981-CA9F20D2EB85}"/>
              </a:ext>
            </a:extLst>
          </p:cNvPr>
          <p:cNvPicPr>
            <a:picLocks noChangeAspect="1"/>
          </p:cNvPicPr>
          <p:nvPr/>
        </p:nvPicPr>
        <p:blipFill>
          <a:blip r:embed="rId4"/>
          <a:stretch>
            <a:fillRect/>
          </a:stretch>
        </p:blipFill>
        <p:spPr>
          <a:xfrm>
            <a:off x="8487104" y="2071951"/>
            <a:ext cx="3182683" cy="2533983"/>
          </a:xfrm>
          <a:prstGeom prst="rect">
            <a:avLst/>
          </a:prstGeom>
        </p:spPr>
      </p:pic>
      <p:sp>
        <p:nvSpPr>
          <p:cNvPr id="4" name="TextBox 3">
            <a:extLst>
              <a:ext uri="{FF2B5EF4-FFF2-40B4-BE49-F238E27FC236}">
                <a16:creationId xmlns:a16="http://schemas.microsoft.com/office/drawing/2014/main" id="{F2CA8614-834F-621C-24B3-467BC89707C6}"/>
              </a:ext>
            </a:extLst>
          </p:cNvPr>
          <p:cNvSpPr txBox="1"/>
          <p:nvPr/>
        </p:nvSpPr>
        <p:spPr>
          <a:xfrm>
            <a:off x="659007" y="4327156"/>
            <a:ext cx="4174843" cy="1138773"/>
          </a:xfrm>
          <a:prstGeom prst="rect">
            <a:avLst/>
          </a:prstGeom>
          <a:noFill/>
        </p:spPr>
        <p:txBody>
          <a:bodyPr wrap="square" rtlCol="0">
            <a:spAutoFit/>
          </a:bodyPr>
          <a:lstStyle/>
          <a:p>
            <a:r>
              <a:rPr lang="en-US" dirty="0"/>
              <a:t>Delays vs Distance:</a:t>
            </a:r>
          </a:p>
          <a:p>
            <a:r>
              <a:rPr lang="en-US" sz="1600" dirty="0"/>
              <a:t>Midrange routes show the lowest average departure delay, while short and very long routes are higher.</a:t>
            </a:r>
            <a:endParaRPr lang="en-US" dirty="0"/>
          </a:p>
        </p:txBody>
      </p:sp>
      <p:sp>
        <p:nvSpPr>
          <p:cNvPr id="6" name="TextBox 5">
            <a:extLst>
              <a:ext uri="{FF2B5EF4-FFF2-40B4-BE49-F238E27FC236}">
                <a16:creationId xmlns:a16="http://schemas.microsoft.com/office/drawing/2014/main" id="{DBCC0E18-2454-F524-1B25-9B71F57AD34D}"/>
              </a:ext>
            </a:extLst>
          </p:cNvPr>
          <p:cNvSpPr txBox="1"/>
          <p:nvPr/>
        </p:nvSpPr>
        <p:spPr>
          <a:xfrm>
            <a:off x="5217843" y="4667926"/>
            <a:ext cx="2852452" cy="1384995"/>
          </a:xfrm>
          <a:prstGeom prst="rect">
            <a:avLst/>
          </a:prstGeom>
          <a:noFill/>
        </p:spPr>
        <p:txBody>
          <a:bodyPr wrap="square" rtlCol="0">
            <a:spAutoFit/>
          </a:bodyPr>
          <a:lstStyle/>
          <a:p>
            <a:pPr algn="ctr"/>
            <a:r>
              <a:rPr lang="en-US" dirty="0"/>
              <a:t>Satisfaction by class X travel type: </a:t>
            </a:r>
            <a:r>
              <a:rPr lang="en-US" sz="1600" dirty="0"/>
              <a:t>Premium Cabin + Business travel has the highest satisfaction; economy and leisure have the lowest. </a:t>
            </a:r>
            <a:endParaRPr lang="en-US" dirty="0"/>
          </a:p>
        </p:txBody>
      </p:sp>
      <p:sp>
        <p:nvSpPr>
          <p:cNvPr id="8" name="TextBox 7">
            <a:extLst>
              <a:ext uri="{FF2B5EF4-FFF2-40B4-BE49-F238E27FC236}">
                <a16:creationId xmlns:a16="http://schemas.microsoft.com/office/drawing/2014/main" id="{53605270-D328-62A7-1E75-56C6912D3365}"/>
              </a:ext>
            </a:extLst>
          </p:cNvPr>
          <p:cNvSpPr txBox="1"/>
          <p:nvPr/>
        </p:nvSpPr>
        <p:spPr>
          <a:xfrm>
            <a:off x="8487104" y="4773431"/>
            <a:ext cx="2852452" cy="1107996"/>
          </a:xfrm>
          <a:prstGeom prst="rect">
            <a:avLst/>
          </a:prstGeom>
          <a:noFill/>
        </p:spPr>
        <p:txBody>
          <a:bodyPr wrap="square" rtlCol="0">
            <a:spAutoFit/>
          </a:bodyPr>
          <a:lstStyle/>
          <a:p>
            <a:pPr algn="ctr"/>
            <a:r>
              <a:rPr lang="en-US" dirty="0"/>
              <a:t>Customer type effect:</a:t>
            </a:r>
          </a:p>
          <a:p>
            <a:pPr algn="ctr"/>
            <a:r>
              <a:rPr lang="en-US" sz="1600" dirty="0"/>
              <a:t>Returning customers rate service roughly 2 times higher than first time customers.</a:t>
            </a:r>
          </a:p>
        </p:txBody>
      </p:sp>
    </p:spTree>
    <p:extLst>
      <p:ext uri="{BB962C8B-B14F-4D97-AF65-F5344CB8AC3E}">
        <p14:creationId xmlns:p14="http://schemas.microsoft.com/office/powerpoint/2010/main" val="69798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27ABA-448A-786B-9ACD-C2FAA67A8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3EE82A-8538-010C-498B-EFB4EE822D5B}"/>
              </a:ext>
            </a:extLst>
          </p:cNvPr>
          <p:cNvSpPr>
            <a:spLocks noGrp="1"/>
          </p:cNvSpPr>
          <p:nvPr>
            <p:ph type="title"/>
          </p:nvPr>
        </p:nvSpPr>
        <p:spPr/>
        <p:txBody>
          <a:bodyPr/>
          <a:lstStyle/>
          <a:p>
            <a:r>
              <a:rPr lang="en-US" dirty="0"/>
              <a:t>Analyze data</a:t>
            </a:r>
          </a:p>
        </p:txBody>
      </p:sp>
      <p:pic>
        <p:nvPicPr>
          <p:cNvPr id="6" name="Content Placeholder 5">
            <a:extLst>
              <a:ext uri="{FF2B5EF4-FFF2-40B4-BE49-F238E27FC236}">
                <a16:creationId xmlns:a16="http://schemas.microsoft.com/office/drawing/2014/main" id="{EFF5A40E-AAD3-966A-5CBD-6C3840C1D50C}"/>
              </a:ext>
            </a:extLst>
          </p:cNvPr>
          <p:cNvPicPr>
            <a:picLocks noGrp="1" noChangeAspect="1"/>
          </p:cNvPicPr>
          <p:nvPr>
            <p:ph idx="1"/>
          </p:nvPr>
        </p:nvPicPr>
        <p:blipFill>
          <a:blip r:embed="rId2"/>
          <a:stretch>
            <a:fillRect/>
          </a:stretch>
        </p:blipFill>
        <p:spPr>
          <a:xfrm>
            <a:off x="659878" y="1582046"/>
            <a:ext cx="3074427" cy="2610126"/>
          </a:xfrm>
          <a:prstGeom prst="rect">
            <a:avLst/>
          </a:prstGeom>
        </p:spPr>
      </p:pic>
      <p:pic>
        <p:nvPicPr>
          <p:cNvPr id="10" name="Picture 9">
            <a:extLst>
              <a:ext uri="{FF2B5EF4-FFF2-40B4-BE49-F238E27FC236}">
                <a16:creationId xmlns:a16="http://schemas.microsoft.com/office/drawing/2014/main" id="{F3621F04-8EBC-12CA-368B-76BF739F0A29}"/>
              </a:ext>
            </a:extLst>
          </p:cNvPr>
          <p:cNvPicPr>
            <a:picLocks noChangeAspect="1"/>
          </p:cNvPicPr>
          <p:nvPr/>
        </p:nvPicPr>
        <p:blipFill>
          <a:blip r:embed="rId3"/>
          <a:stretch>
            <a:fillRect/>
          </a:stretch>
        </p:blipFill>
        <p:spPr>
          <a:xfrm>
            <a:off x="4324185" y="1582046"/>
            <a:ext cx="3543630" cy="2610126"/>
          </a:xfrm>
          <a:prstGeom prst="rect">
            <a:avLst/>
          </a:prstGeom>
        </p:spPr>
      </p:pic>
      <p:pic>
        <p:nvPicPr>
          <p:cNvPr id="12" name="Picture 11">
            <a:extLst>
              <a:ext uri="{FF2B5EF4-FFF2-40B4-BE49-F238E27FC236}">
                <a16:creationId xmlns:a16="http://schemas.microsoft.com/office/drawing/2014/main" id="{7CE35F07-D788-A1B7-FC84-3521CBB4836E}"/>
              </a:ext>
            </a:extLst>
          </p:cNvPr>
          <p:cNvPicPr>
            <a:picLocks noChangeAspect="1"/>
          </p:cNvPicPr>
          <p:nvPr/>
        </p:nvPicPr>
        <p:blipFill>
          <a:blip r:embed="rId4"/>
          <a:stretch>
            <a:fillRect/>
          </a:stretch>
        </p:blipFill>
        <p:spPr>
          <a:xfrm>
            <a:off x="8516391" y="1582046"/>
            <a:ext cx="3427289" cy="2631775"/>
          </a:xfrm>
          <a:prstGeom prst="rect">
            <a:avLst/>
          </a:prstGeom>
        </p:spPr>
      </p:pic>
      <p:sp>
        <p:nvSpPr>
          <p:cNvPr id="5" name="TextBox 4">
            <a:extLst>
              <a:ext uri="{FF2B5EF4-FFF2-40B4-BE49-F238E27FC236}">
                <a16:creationId xmlns:a16="http://schemas.microsoft.com/office/drawing/2014/main" id="{4F2EED0D-1C9F-3D3C-8DE8-F72558C58BBF}"/>
              </a:ext>
            </a:extLst>
          </p:cNvPr>
          <p:cNvSpPr txBox="1"/>
          <p:nvPr/>
        </p:nvSpPr>
        <p:spPr>
          <a:xfrm>
            <a:off x="770865" y="4423482"/>
            <a:ext cx="2852452" cy="1384995"/>
          </a:xfrm>
          <a:prstGeom prst="rect">
            <a:avLst/>
          </a:prstGeom>
          <a:noFill/>
        </p:spPr>
        <p:txBody>
          <a:bodyPr wrap="square" rtlCol="0">
            <a:spAutoFit/>
          </a:bodyPr>
          <a:lstStyle/>
          <a:p>
            <a:pPr algn="ctr"/>
            <a:r>
              <a:rPr lang="en-US" dirty="0"/>
              <a:t>Satisfaction by class X travel type: </a:t>
            </a:r>
            <a:r>
              <a:rPr lang="en-US" sz="1600" dirty="0"/>
              <a:t>Premium Cabin + Business travel has the highest satisfaction; economy and leisure have the lowest. </a:t>
            </a:r>
            <a:endParaRPr lang="en-US" dirty="0"/>
          </a:p>
        </p:txBody>
      </p:sp>
      <p:sp>
        <p:nvSpPr>
          <p:cNvPr id="7" name="TextBox 6">
            <a:extLst>
              <a:ext uri="{FF2B5EF4-FFF2-40B4-BE49-F238E27FC236}">
                <a16:creationId xmlns:a16="http://schemas.microsoft.com/office/drawing/2014/main" id="{18C7FCDE-4684-41D2-ABE7-68172585383E}"/>
              </a:ext>
            </a:extLst>
          </p:cNvPr>
          <p:cNvSpPr txBox="1"/>
          <p:nvPr/>
        </p:nvSpPr>
        <p:spPr>
          <a:xfrm>
            <a:off x="4669774" y="4423482"/>
            <a:ext cx="2852452" cy="1354217"/>
          </a:xfrm>
          <a:prstGeom prst="rect">
            <a:avLst/>
          </a:prstGeom>
          <a:noFill/>
        </p:spPr>
        <p:txBody>
          <a:bodyPr wrap="square" rtlCol="0">
            <a:spAutoFit/>
          </a:bodyPr>
          <a:lstStyle/>
          <a:p>
            <a:pPr algn="ctr"/>
            <a:r>
              <a:rPr lang="en-US" dirty="0"/>
              <a:t>Satisfaction by class : </a:t>
            </a:r>
            <a:r>
              <a:rPr lang="en-US" sz="1600" dirty="0"/>
              <a:t>Premium averages ~0.69 satisfaction, versus 0.25 for standard and 0.18 for basic, roughly a 3x gap.</a:t>
            </a:r>
            <a:endParaRPr lang="en-US" dirty="0"/>
          </a:p>
        </p:txBody>
      </p:sp>
      <p:sp>
        <p:nvSpPr>
          <p:cNvPr id="8" name="TextBox 7">
            <a:extLst>
              <a:ext uri="{FF2B5EF4-FFF2-40B4-BE49-F238E27FC236}">
                <a16:creationId xmlns:a16="http://schemas.microsoft.com/office/drawing/2014/main" id="{CFD17F22-80F8-B43D-1553-66ACA70382BD}"/>
              </a:ext>
            </a:extLst>
          </p:cNvPr>
          <p:cNvSpPr txBox="1"/>
          <p:nvPr/>
        </p:nvSpPr>
        <p:spPr>
          <a:xfrm>
            <a:off x="8803809" y="4423481"/>
            <a:ext cx="2852452" cy="1631216"/>
          </a:xfrm>
          <a:prstGeom prst="rect">
            <a:avLst/>
          </a:prstGeom>
          <a:noFill/>
        </p:spPr>
        <p:txBody>
          <a:bodyPr wrap="square" rtlCol="0">
            <a:spAutoFit/>
          </a:bodyPr>
          <a:lstStyle/>
          <a:p>
            <a:pPr algn="ctr"/>
            <a:r>
              <a:rPr lang="en-US" dirty="0"/>
              <a:t>Avg Departure Delay by Flight Distance: </a:t>
            </a:r>
            <a:r>
              <a:rPr lang="en-US" sz="1600" dirty="0"/>
              <a:t>Delays hover roughly 13-16 minutes across most distances, indicating no simple linear trend with route length.</a:t>
            </a:r>
            <a:endParaRPr lang="en-US" dirty="0"/>
          </a:p>
        </p:txBody>
      </p:sp>
    </p:spTree>
    <p:extLst>
      <p:ext uri="{BB962C8B-B14F-4D97-AF65-F5344CB8AC3E}">
        <p14:creationId xmlns:p14="http://schemas.microsoft.com/office/powerpoint/2010/main" val="3813818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7252-6823-44F9-B464-D7A15D12BB65}"/>
              </a:ext>
            </a:extLst>
          </p:cNvPr>
          <p:cNvSpPr>
            <a:spLocks noGrp="1"/>
          </p:cNvSpPr>
          <p:nvPr>
            <p:ph type="title"/>
          </p:nvPr>
        </p:nvSpPr>
        <p:spPr/>
        <p:txBody>
          <a:bodyPr/>
          <a:lstStyle/>
          <a:p>
            <a:r>
              <a:rPr lang="en-US" dirty="0"/>
              <a:t>Report</a:t>
            </a:r>
          </a:p>
        </p:txBody>
      </p:sp>
      <p:sp>
        <p:nvSpPr>
          <p:cNvPr id="3" name="Content Placeholder 2">
            <a:extLst>
              <a:ext uri="{FF2B5EF4-FFF2-40B4-BE49-F238E27FC236}">
                <a16:creationId xmlns:a16="http://schemas.microsoft.com/office/drawing/2014/main" id="{7FEAE391-6366-4E20-A14E-0ECFAEA8029A}"/>
              </a:ext>
            </a:extLst>
          </p:cNvPr>
          <p:cNvSpPr>
            <a:spLocks noGrp="1"/>
          </p:cNvSpPr>
          <p:nvPr>
            <p:ph idx="1"/>
          </p:nvPr>
        </p:nvSpPr>
        <p:spPr/>
        <p:txBody>
          <a:bodyPr/>
          <a:lstStyle/>
          <a:p>
            <a:r>
              <a:rPr lang="en-US" sz="1800" dirty="0">
                <a:solidFill>
                  <a:srgbClr val="000000"/>
                </a:solidFill>
                <a:latin typeface="Times New Roman" panose="02020603050405020304" pitchFamily="18" charset="0"/>
              </a:rPr>
              <a:t>Analysis shows that service tier and traveler type are strongly associated with higher satisfaction, and departure delays vary systematically by route length. </a:t>
            </a:r>
          </a:p>
          <a:p>
            <a:r>
              <a:rPr lang="en-US" sz="1800" dirty="0">
                <a:solidFill>
                  <a:srgbClr val="000000"/>
                </a:solidFill>
                <a:latin typeface="Times New Roman" panose="02020603050405020304" pitchFamily="18" charset="0"/>
              </a:rPr>
              <a:t>Key Findings:</a:t>
            </a:r>
          </a:p>
          <a:p>
            <a:pPr lvl="1"/>
            <a:r>
              <a:rPr lang="en-US" sz="1800" dirty="0">
                <a:solidFill>
                  <a:srgbClr val="000000"/>
                </a:solidFill>
                <a:latin typeface="Times New Roman" panose="02020603050405020304" pitchFamily="18" charset="0"/>
              </a:rPr>
              <a:t>Business class and Loyal customers report the highest average satisfaction; effects are strongest for Business class on Business travel.</a:t>
            </a:r>
          </a:p>
          <a:p>
            <a:pPr lvl="1"/>
            <a:r>
              <a:rPr lang="en-US" sz="1800" dirty="0">
                <a:solidFill>
                  <a:srgbClr val="000000"/>
                </a:solidFill>
                <a:latin typeface="Times New Roman" panose="02020603050405020304" pitchFamily="18" charset="0"/>
              </a:rPr>
              <a:t>Departure delays differs across flight-distance bins, with a mid-range bump visible in the line plot.</a:t>
            </a:r>
          </a:p>
          <a:p>
            <a:r>
              <a:rPr lang="en-US" sz="2000" dirty="0">
                <a:solidFill>
                  <a:srgbClr val="000000"/>
                </a:solidFill>
                <a:latin typeface="Times New Roman" panose="02020603050405020304" pitchFamily="18" charset="0"/>
              </a:rPr>
              <a:t>Suggestions:</a:t>
            </a:r>
          </a:p>
          <a:p>
            <a:pPr lvl="1"/>
            <a:r>
              <a:rPr lang="en-US" sz="1800" dirty="0">
                <a:solidFill>
                  <a:srgbClr val="000000"/>
                </a:solidFill>
                <a:latin typeface="Times New Roman" panose="02020603050405020304" pitchFamily="18" charset="0"/>
              </a:rPr>
              <a:t>Align service amenities to trip purpose(business travelers in premium cabins yield the best satisfaction signal).</a:t>
            </a:r>
          </a:p>
          <a:p>
            <a:pPr lvl="1"/>
            <a:r>
              <a:rPr lang="en-US" sz="1800" dirty="0">
                <a:solidFill>
                  <a:srgbClr val="000000"/>
                </a:solidFill>
                <a:latin typeface="Times New Roman" panose="02020603050405020304" pitchFamily="18" charset="0"/>
              </a:rPr>
              <a:t>Target operational improvements on mid-distance routes where delays cluster. </a:t>
            </a:r>
          </a:p>
          <a:p>
            <a:r>
              <a:rPr lang="en-US" sz="2000" dirty="0">
                <a:solidFill>
                  <a:srgbClr val="000000"/>
                </a:solidFill>
                <a:latin typeface="Times New Roman" panose="02020603050405020304" pitchFamily="18" charset="0"/>
              </a:rPr>
              <a:t>Limitations:</a:t>
            </a:r>
          </a:p>
          <a:p>
            <a:pPr lvl="1"/>
            <a:r>
              <a:rPr lang="en-US" sz="1800" dirty="0">
                <a:solidFill>
                  <a:srgbClr val="000000"/>
                </a:solidFill>
                <a:latin typeface="Times New Roman" panose="02020603050405020304" pitchFamily="18" charset="0"/>
              </a:rPr>
              <a:t>Single table with no date/airport fields; no weather data. </a:t>
            </a:r>
          </a:p>
          <a:p>
            <a:pPr lvl="1"/>
            <a:r>
              <a:rPr lang="en-US" sz="1800" dirty="0">
                <a:solidFill>
                  <a:srgbClr val="000000"/>
                </a:solidFill>
                <a:latin typeface="Times New Roman" panose="02020603050405020304" pitchFamily="18" charset="0"/>
              </a:rPr>
              <a:t>Observational survey data; associations, not causation.</a:t>
            </a:r>
            <a:endParaRPr lang="en-US" sz="1800" dirty="0"/>
          </a:p>
        </p:txBody>
      </p:sp>
    </p:spTree>
    <p:extLst>
      <p:ext uri="{BB962C8B-B14F-4D97-AF65-F5344CB8AC3E}">
        <p14:creationId xmlns:p14="http://schemas.microsoft.com/office/powerpoint/2010/main" val="2309908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B9B0A-9BBF-6A7B-90C6-F1FEF168F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B69F3-C576-E6B0-5F61-97586B0AB364}"/>
              </a:ext>
            </a:extLst>
          </p:cNvPr>
          <p:cNvSpPr>
            <a:spLocks noGrp="1"/>
          </p:cNvSpPr>
          <p:nvPr>
            <p:ph type="title"/>
          </p:nvPr>
        </p:nvSpPr>
        <p:spPr/>
        <p:txBody>
          <a:bodyPr/>
          <a:lstStyle/>
          <a:p>
            <a:r>
              <a:rPr lang="en-US" dirty="0"/>
              <a:t>Act</a:t>
            </a:r>
          </a:p>
        </p:txBody>
      </p:sp>
      <p:sp>
        <p:nvSpPr>
          <p:cNvPr id="3" name="Content Placeholder 2">
            <a:extLst>
              <a:ext uri="{FF2B5EF4-FFF2-40B4-BE49-F238E27FC236}">
                <a16:creationId xmlns:a16="http://schemas.microsoft.com/office/drawing/2014/main" id="{9AC741DE-41F9-BB59-259A-27E59FA7D55D}"/>
              </a:ext>
            </a:extLst>
          </p:cNvPr>
          <p:cNvSpPr>
            <a:spLocks noGrp="1"/>
          </p:cNvSpPr>
          <p:nvPr>
            <p:ph idx="1"/>
          </p:nvPr>
        </p:nvSpPr>
        <p:spPr>
          <a:xfrm>
            <a:off x="838200" y="1554021"/>
            <a:ext cx="10515600" cy="4351338"/>
          </a:xfrm>
        </p:spPr>
        <p:txBody>
          <a:bodyPr>
            <a:normAutofit fontScale="92500" lnSpcReduction="20000"/>
          </a:bodyPr>
          <a:lstStyle/>
          <a:p>
            <a:pPr marL="0" indent="0" algn="ctr">
              <a:buNone/>
            </a:pPr>
            <a:r>
              <a:rPr lang="en-US" sz="2400" dirty="0">
                <a:solidFill>
                  <a:srgbClr val="000000"/>
                </a:solidFill>
                <a:effectLst/>
                <a:latin typeface="Times New Roman" panose="02020603050405020304" pitchFamily="18" charset="0"/>
                <a:ea typeface="Times New Roman" panose="02020603050405020304" pitchFamily="18" charset="0"/>
              </a:rPr>
              <a:t>Deploy Ridge (</a:t>
            </a:r>
            <a:r>
              <a:rPr lang="el-GR" sz="2400" dirty="0"/>
              <a:t>α=3</a:t>
            </a:r>
            <a:r>
              <a:rPr lang="en-US" sz="2400" dirty="0">
                <a:solidFill>
                  <a:srgbClr val="000000"/>
                </a:solidFill>
                <a:effectLst/>
                <a:latin typeface="Times New Roman" panose="02020603050405020304" pitchFamily="18" charset="0"/>
                <a:ea typeface="Times New Roman" panose="02020603050405020304" pitchFamily="18" charset="0"/>
              </a:rPr>
              <a:t>) to predict arrival delay and drive targeted actions. </a:t>
            </a:r>
          </a:p>
          <a:p>
            <a:r>
              <a:rPr lang="en-US" dirty="0"/>
              <a:t>Strategy:</a:t>
            </a:r>
          </a:p>
          <a:p>
            <a:pPr lvl="1"/>
            <a:r>
              <a:rPr lang="en-US" sz="2000" dirty="0"/>
              <a:t>Use the Ridge model with scaling and one hot encoding to forecast arrival delay. At dispatch, flag flights whose predicted delay exceeds 11 minutes to trigger tighter turn checks on short haul legs and contingency on very long routes. For customers, send proactive updates and small amenities where satisfaction is most elastic.</a:t>
            </a:r>
          </a:p>
          <a:p>
            <a:r>
              <a:rPr lang="en-US" sz="2400" dirty="0"/>
              <a:t>Operations:</a:t>
            </a:r>
          </a:p>
          <a:p>
            <a:pPr lvl="1"/>
            <a:r>
              <a:rPr lang="en-US" sz="2000" dirty="0"/>
              <a:t>Monitor predicted delays and auto trigger turn-time checks and crew/gate coordination on flagged flights. Use the model’s typical absolute error to set alert thresholds. </a:t>
            </a:r>
          </a:p>
          <a:p>
            <a:r>
              <a:rPr lang="en-US" sz="2400" dirty="0"/>
              <a:t>Customer Experience</a:t>
            </a:r>
          </a:p>
          <a:p>
            <a:pPr lvl="1"/>
            <a:r>
              <a:rPr lang="en-US" sz="2000" dirty="0"/>
              <a:t>Prioritize proactive notifications, connection guidance, and small amenities on economy-leisure and first-time itineraries. Keep premium and business steady where satisfaction is already high.</a:t>
            </a:r>
          </a:p>
          <a:p>
            <a:r>
              <a:rPr lang="en-US" sz="2400" dirty="0"/>
              <a:t>Measure – Ship – Improve</a:t>
            </a:r>
          </a:p>
          <a:p>
            <a:pPr lvl="1"/>
            <a:r>
              <a:rPr lang="en-US" sz="2000" dirty="0"/>
              <a:t>Track on time %, average arrival delay, rebook rate, and satisfaction by segment. Retrain monthly, log CV RMSE vs holdout to catch drift. Next: stabilize long-haul bins and add weather data.</a:t>
            </a:r>
          </a:p>
        </p:txBody>
      </p:sp>
    </p:spTree>
    <p:extLst>
      <p:ext uri="{BB962C8B-B14F-4D97-AF65-F5344CB8AC3E}">
        <p14:creationId xmlns:p14="http://schemas.microsoft.com/office/powerpoint/2010/main" val="687968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8C1A2-E365-4EAD-A777-10EF9BD2588C}"/>
              </a:ext>
            </a:extLst>
          </p:cNvPr>
          <p:cNvSpPr>
            <a:spLocks noGrp="1"/>
          </p:cNvSpPr>
          <p:nvPr>
            <p:ph type="title"/>
          </p:nvPr>
        </p:nvSpPr>
        <p:spPr/>
        <p:txBody>
          <a:bodyPr/>
          <a:lstStyle/>
          <a:p>
            <a:r>
              <a:rPr lang="en-US" dirty="0"/>
              <a:t>Act</a:t>
            </a:r>
          </a:p>
        </p:txBody>
      </p:sp>
      <p:sp>
        <p:nvSpPr>
          <p:cNvPr id="3" name="Content Placeholder 2">
            <a:extLst>
              <a:ext uri="{FF2B5EF4-FFF2-40B4-BE49-F238E27FC236}">
                <a16:creationId xmlns:a16="http://schemas.microsoft.com/office/drawing/2014/main" id="{83DC0D0A-FDCC-4561-A8EB-1F836A94AACC}"/>
              </a:ext>
            </a:extLst>
          </p:cNvPr>
          <p:cNvSpPr>
            <a:spLocks noGrp="1"/>
          </p:cNvSpPr>
          <p:nvPr>
            <p:ph idx="1"/>
          </p:nvPr>
        </p:nvSpPr>
        <p:spPr/>
        <p:txBody>
          <a:bodyPr/>
          <a:lstStyle/>
          <a:p>
            <a:r>
              <a:rPr lang="en-US" sz="1800" dirty="0">
                <a:solidFill>
                  <a:srgbClr val="000000"/>
                </a:solidFill>
                <a:effectLst/>
                <a:latin typeface="Times New Roman" panose="02020603050405020304" pitchFamily="18" charset="0"/>
                <a:ea typeface="Times New Roman" panose="02020603050405020304" pitchFamily="18" charset="0"/>
              </a:rPr>
              <a:t>&lt;apply results, connect results with the chosen problem statement or business question&gt;</a:t>
            </a:r>
            <a:endParaRPr lang="en-US" dirty="0"/>
          </a:p>
        </p:txBody>
      </p:sp>
    </p:spTree>
    <p:extLst>
      <p:ext uri="{BB962C8B-B14F-4D97-AF65-F5344CB8AC3E}">
        <p14:creationId xmlns:p14="http://schemas.microsoft.com/office/powerpoint/2010/main" val="40241087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539</TotalTime>
  <Words>906</Words>
  <Application>Microsoft Office PowerPoint</Application>
  <PresentationFormat>Widescreen</PresentationFormat>
  <Paragraphs>75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Exploring Airline Passenger Satisfaction and On Time Performance Micro Project # 1 Github Project</vt:lpstr>
      <vt:lpstr>Problem Statement</vt:lpstr>
      <vt:lpstr>Hypothesis Formulation</vt:lpstr>
      <vt:lpstr>Acquire</vt:lpstr>
      <vt:lpstr>Prepare</vt:lpstr>
      <vt:lpstr>Analyze data</vt:lpstr>
      <vt:lpstr>Analyze data</vt:lpstr>
      <vt:lpstr>Report</vt:lpstr>
      <vt:lpstr>Act</vt:lpstr>
      <vt:lpstr>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&lt;Project Title&gt; &lt;Micro-Project #&gt;</dc:title>
  <dc:creator>Emmanuel J Rodriguez</dc:creator>
  <cp:lastModifiedBy>Stephanie Valdez</cp:lastModifiedBy>
  <cp:revision>5</cp:revision>
  <dcterms:created xsi:type="dcterms:W3CDTF">2022-03-01T22:05:03Z</dcterms:created>
  <dcterms:modified xsi:type="dcterms:W3CDTF">2025-10-21T04:25:12Z</dcterms:modified>
</cp:coreProperties>
</file>